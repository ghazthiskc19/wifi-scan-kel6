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514350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C7D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DESIGN REPORT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Lantai4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30175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7D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Kelompok 6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7D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11,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44577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87.7% coverage  ·  10 access points  ·  1,807 m²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922776" y="448056"/>
            <a:ext cx="4864608" cy="4247388"/>
          </a:xfrm>
          <a:prstGeom prst="roundRect">
            <a:avLst>
              <a:gd name="adj" fmla="val 1292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977640" y="502920"/>
            <a:ext cx="4754880" cy="41376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977640" y="468630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Strength — predicted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for Lantai4 at a glance.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216152"/>
            <a:ext cx="1746504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87.7%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75488" y="1719072"/>
            <a:ext cx="1746504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≥ -70 DBM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514600" y="114300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24328" y="1216152"/>
            <a:ext cx="1746504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624328" y="1719072"/>
            <a:ext cx="1746504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663440" y="114300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1216152"/>
            <a:ext cx="1746504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773168" y="1719072"/>
            <a:ext cx="1746504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WALLS MODELLED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812280" y="114300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22008" y="1216152"/>
            <a:ext cx="1746504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1,807 m²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922008" y="1719072"/>
            <a:ext cx="1746504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AREA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65760" y="2331720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65760" y="25603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× Ruckus R650, Ruckus R750 and others on 5GHz.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coverage layers follow: Signal Strength, Data Rate, Signal-to-Noise Ratio, Channel Interference, User Capacity, Secondary Coverage.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coverage is 87.7% — review the orange/red areas on the Signal Strength page and move or add one access point.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design with a post-installation survey and adjust channels and power from measured data.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806440" y="2331720"/>
            <a:ext cx="2971800" cy="2240280"/>
          </a:xfrm>
          <a:prstGeom prst="roundRect">
            <a:avLst>
              <a:gd name="adj" fmla="val 2449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9320" y="2450592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WAS PREDICTED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989320" y="2670048"/>
            <a:ext cx="2606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Free-space path loss + wall attenuation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Environment: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device: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client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Direction: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downlink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-70 dBm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Ceiling: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4.0m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size: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53m × 34m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4759452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7960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6  ·  Lantai4  ·  October 11, 2026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680960" y="47960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LAYER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Strength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received signal (dBm) from the strongest access point at every point of the floor.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5852160" cy="3543300"/>
          </a:xfrm>
          <a:prstGeom prst="roundRect">
            <a:avLst>
              <a:gd name="adj" fmla="val 1290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143000"/>
            <a:ext cx="5760720" cy="34518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46520" y="1143000"/>
            <a:ext cx="2331720" cy="658368"/>
          </a:xfrm>
          <a:prstGeom prst="roundRect">
            <a:avLst>
              <a:gd name="adj" fmla="val 8333"/>
            </a:avLst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56248" y="1216152"/>
            <a:ext cx="211226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87.7%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556248" y="1538021"/>
            <a:ext cx="2112264" cy="210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≥ −70 DBM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6446520" y="1911096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THIS MAP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6446520" y="2112264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and light green are where laptops, phones and voice devices will work without complaint.</a:t>
            </a:r>
            <a:endParaRPr lang="en-US" sz="8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is usable for browsing and email; orange and red will drop calls and stall video.</a:t>
            </a:r>
            <a:endParaRPr lang="en-US" sz="8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coverage figure counts points at or above −70 dBm.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446520" y="335584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6446520" y="3602736"/>
            <a:ext cx="201168" cy="146304"/>
          </a:xfrm>
          <a:prstGeom prst="roundRect">
            <a:avLst>
              <a:gd name="adj" fmla="val 18750"/>
            </a:avLst>
          </a:prstGeom>
          <a:solidFill>
            <a:srgbClr val="00FF0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20840" y="357530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≥ -57 dBm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446520" y="3799332"/>
            <a:ext cx="201168" cy="146304"/>
          </a:xfrm>
          <a:prstGeom prst="roundRect">
            <a:avLst>
              <a:gd name="adj" fmla="val 18750"/>
            </a:avLst>
          </a:prstGeom>
          <a:solidFill>
            <a:srgbClr val="90EE9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720840" y="377190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-65 to -57 dBm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446520" y="3995928"/>
            <a:ext cx="201168" cy="146304"/>
          </a:xfrm>
          <a:prstGeom prst="roundRect">
            <a:avLst>
              <a:gd name="adj" fmla="val 18750"/>
            </a:avLst>
          </a:prstGeom>
          <a:solidFill>
            <a:srgbClr val="FFFF0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20840" y="396849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-70 to -65 dBm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446520" y="4192524"/>
            <a:ext cx="201168" cy="146304"/>
          </a:xfrm>
          <a:prstGeom prst="roundRect">
            <a:avLst>
              <a:gd name="adj" fmla="val 18750"/>
            </a:avLst>
          </a:prstGeom>
          <a:solidFill>
            <a:srgbClr val="FFA50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720840" y="416509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-80 to -70 dBm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446520" y="4389120"/>
            <a:ext cx="201168" cy="146304"/>
          </a:xfrm>
          <a:prstGeom prst="roundRect">
            <a:avLst>
              <a:gd name="adj" fmla="val 18750"/>
            </a:avLst>
          </a:prstGeom>
          <a:solidFill>
            <a:srgbClr val="FF000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20840" y="436168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&lt; -80 dBm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365760" y="4759452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5760" y="47960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6  ·  Lantai4  ·  October 11, 2026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7680960" y="47960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LAYER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Rate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Achievable physical-layer data rate given the signal at each point.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5852160" cy="3543300"/>
          </a:xfrm>
          <a:prstGeom prst="roundRect">
            <a:avLst>
              <a:gd name="adj" fmla="val 1290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143000"/>
            <a:ext cx="5760720" cy="34518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46520" y="114300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THIS MAP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6446520" y="1344168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fall in steps as signal weakens; the map shows where video, backups and large transfers will be slow.</a:t>
            </a:r>
            <a:endParaRPr lang="en-US" sz="8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share an access point, so real throughput per user is lower in busy areas.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446520" y="258775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6446520" y="2834640"/>
            <a:ext cx="201168" cy="146304"/>
          </a:xfrm>
          <a:prstGeom prst="roundRect">
            <a:avLst>
              <a:gd name="adj" fmla="val 18750"/>
            </a:avLst>
          </a:prstGeom>
          <a:solidFill>
            <a:srgbClr val="00FF0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20840" y="280720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≥ 800 Mbps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446520" y="3031236"/>
            <a:ext cx="201168" cy="146304"/>
          </a:xfrm>
          <a:prstGeom prst="roundRect">
            <a:avLst>
              <a:gd name="adj" fmla="val 18750"/>
            </a:avLst>
          </a:prstGeom>
          <a:solidFill>
            <a:srgbClr val="90EE9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20840" y="300380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400-800 Mbps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446520" y="3227832"/>
            <a:ext cx="201168" cy="146304"/>
          </a:xfrm>
          <a:prstGeom prst="roundRect">
            <a:avLst>
              <a:gd name="adj" fmla="val 18750"/>
            </a:avLst>
          </a:prstGeom>
          <a:solidFill>
            <a:srgbClr val="FFFF0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20840" y="320040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100-400 Mbps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446520" y="3424428"/>
            <a:ext cx="201168" cy="146304"/>
          </a:xfrm>
          <a:prstGeom prst="roundRect">
            <a:avLst>
              <a:gd name="adj" fmla="val 18750"/>
            </a:avLst>
          </a:prstGeom>
          <a:solidFill>
            <a:srgbClr val="FFA50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20840" y="339699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24-100 Mbps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446520" y="3621024"/>
            <a:ext cx="201168" cy="146304"/>
          </a:xfrm>
          <a:prstGeom prst="roundRect">
            <a:avLst>
              <a:gd name="adj" fmla="val 18750"/>
            </a:avLst>
          </a:prstGeom>
          <a:solidFill>
            <a:srgbClr val="FF000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20840" y="359359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&lt; 24 Mbps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65760" y="4759452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760" y="47960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6  ·  Lantai4  ·  October 11, 2026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7680960" y="47960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LAYER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Signal-to-Noise Ratio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Signal-to-noise ratio — how far the signal sits above the noise floor.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5852160" cy="3543300"/>
          </a:xfrm>
          <a:prstGeom prst="roundRect">
            <a:avLst>
              <a:gd name="adj" fmla="val 1290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143000"/>
            <a:ext cx="5760720" cy="34518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46520" y="114300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THIS MAP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6446520" y="1344168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and video need roughly 25 dB or better; below 15 dB connections become unreliable.</a:t>
            </a:r>
            <a:endParaRPr lang="en-US" sz="8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SNR in a strong-signal area points to interference rather than distance.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446520" y="258775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6446520" y="2834640"/>
            <a:ext cx="201168" cy="146304"/>
          </a:xfrm>
          <a:prstGeom prst="roundRect">
            <a:avLst>
              <a:gd name="adj" fmla="val 18750"/>
            </a:avLst>
          </a:prstGeom>
          <a:solidFill>
            <a:srgbClr val="00FF0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20840" y="280720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≥ 40 dB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446520" y="3031236"/>
            <a:ext cx="201168" cy="146304"/>
          </a:xfrm>
          <a:prstGeom prst="roundRect">
            <a:avLst>
              <a:gd name="adj" fmla="val 18750"/>
            </a:avLst>
          </a:prstGeom>
          <a:solidFill>
            <a:srgbClr val="90EE9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20840" y="300380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30-40 dB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446520" y="3227832"/>
            <a:ext cx="201168" cy="146304"/>
          </a:xfrm>
          <a:prstGeom prst="roundRect">
            <a:avLst>
              <a:gd name="adj" fmla="val 18750"/>
            </a:avLst>
          </a:prstGeom>
          <a:solidFill>
            <a:srgbClr val="FFFF0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20840" y="320040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20-30 dB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446520" y="3424428"/>
            <a:ext cx="201168" cy="146304"/>
          </a:xfrm>
          <a:prstGeom prst="roundRect">
            <a:avLst>
              <a:gd name="adj" fmla="val 18750"/>
            </a:avLst>
          </a:prstGeom>
          <a:solidFill>
            <a:srgbClr val="FFA50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20840" y="339699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10-20 dB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446520" y="3621024"/>
            <a:ext cx="201168" cy="146304"/>
          </a:xfrm>
          <a:prstGeom prst="roundRect">
            <a:avLst>
              <a:gd name="adj" fmla="val 18750"/>
            </a:avLst>
          </a:prstGeom>
          <a:solidFill>
            <a:srgbClr val="FF000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20840" y="359359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&lt; 10 dB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65760" y="4759452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760" y="47960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6  ·  Lantai4  ·  October 11, 2026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7680960" y="47960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LAYER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Interference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neighbouring access points on the same or adjacent channels can hear each other.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5852160" cy="3543300"/>
          </a:xfrm>
          <a:prstGeom prst="roundRect">
            <a:avLst>
              <a:gd name="adj" fmla="val 1290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143000"/>
            <a:ext cx="5760720" cy="34518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46520" y="114300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THIS MAP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6446520" y="1344168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means each point hears one access point per channel; red means several compete for airtime.</a:t>
            </a:r>
            <a:endParaRPr lang="en-US" sz="8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with channel changes or lower transmit power before adding hardware.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446520" y="258775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6446520" y="2834640"/>
            <a:ext cx="201168" cy="146304"/>
          </a:xfrm>
          <a:prstGeom prst="roundRect">
            <a:avLst>
              <a:gd name="adj" fmla="val 18750"/>
            </a:avLst>
          </a:prstGeom>
          <a:solidFill>
            <a:srgbClr val="00FF0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20840" y="280720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0-10%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446520" y="3031236"/>
            <a:ext cx="201168" cy="146304"/>
          </a:xfrm>
          <a:prstGeom prst="roundRect">
            <a:avLst>
              <a:gd name="adj" fmla="val 18750"/>
            </a:avLst>
          </a:prstGeom>
          <a:solidFill>
            <a:srgbClr val="90EE9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20840" y="300380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10-25%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446520" y="3227832"/>
            <a:ext cx="201168" cy="146304"/>
          </a:xfrm>
          <a:prstGeom prst="roundRect">
            <a:avLst>
              <a:gd name="adj" fmla="val 18750"/>
            </a:avLst>
          </a:prstGeom>
          <a:solidFill>
            <a:srgbClr val="FFFF0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20840" y="320040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25-50%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446520" y="3424428"/>
            <a:ext cx="201168" cy="146304"/>
          </a:xfrm>
          <a:prstGeom prst="roundRect">
            <a:avLst>
              <a:gd name="adj" fmla="val 18750"/>
            </a:avLst>
          </a:prstGeom>
          <a:solidFill>
            <a:srgbClr val="FFA50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20840" y="339699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50-75%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446520" y="3621024"/>
            <a:ext cx="201168" cy="146304"/>
          </a:xfrm>
          <a:prstGeom prst="roundRect">
            <a:avLst>
              <a:gd name="adj" fmla="val 18750"/>
            </a:avLst>
          </a:prstGeom>
          <a:solidFill>
            <a:srgbClr val="FF000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20840" y="359359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75-100%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65760" y="4759452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760" y="47960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6  ·  Lantai4  ·  October 11, 2026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7680960" y="47960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LAYER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Capacity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capacity compared with the demand of the planned number of users.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5852160" cy="3543300"/>
          </a:xfrm>
          <a:prstGeom prst="roundRect">
            <a:avLst>
              <a:gd name="adj" fmla="val 1290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143000"/>
            <a:ext cx="5760720" cy="34518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46520" y="114300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THIS MAP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6446520" y="1344168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has headroom for growth; yellow is at the limit at peak times.</a:t>
            </a:r>
            <a:endParaRPr lang="en-US" sz="8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and red need more radios or users spread across more access points.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446520" y="258775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6446520" y="2834640"/>
            <a:ext cx="201168" cy="146304"/>
          </a:xfrm>
          <a:prstGeom prst="roundRect">
            <a:avLst>
              <a:gd name="adj" fmla="val 18750"/>
            </a:avLst>
          </a:prstGeom>
          <a:solidFill>
            <a:srgbClr val="00FF0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20840" y="280720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Plenty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Plenty of room: ≥ 150% of demand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446520" y="3031236"/>
            <a:ext cx="201168" cy="146304"/>
          </a:xfrm>
          <a:prstGeom prst="roundRect">
            <a:avLst>
              <a:gd name="adj" fmla="val 18750"/>
            </a:avLst>
          </a:prstGeom>
          <a:solidFill>
            <a:srgbClr val="90EE9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20840" y="300380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Comfortable: 110–150%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446520" y="3227832"/>
            <a:ext cx="201168" cy="146304"/>
          </a:xfrm>
          <a:prstGeom prst="roundRect">
            <a:avLst>
              <a:gd name="adj" fmla="val 18750"/>
            </a:avLst>
          </a:prstGeom>
          <a:solidFill>
            <a:srgbClr val="FFFF0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20840" y="320040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Near the limit: 90–110%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446520" y="3424428"/>
            <a:ext cx="201168" cy="146304"/>
          </a:xfrm>
          <a:prstGeom prst="roundRect">
            <a:avLst>
              <a:gd name="adj" fmla="val 18750"/>
            </a:avLst>
          </a:prstGeom>
          <a:solidFill>
            <a:srgbClr val="FFA50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20840" y="339699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Congested: 60–90%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446520" y="3621024"/>
            <a:ext cx="201168" cy="146304"/>
          </a:xfrm>
          <a:prstGeom prst="roundRect">
            <a:avLst>
              <a:gd name="adj" fmla="val 18750"/>
            </a:avLst>
          </a:prstGeom>
          <a:solidFill>
            <a:srgbClr val="FF000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20840" y="359359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Overloaded: &lt; 60%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65760" y="4759452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760" y="47960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6  ·  Lantai4  ·  October 11, 2026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7680960" y="47960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LAYER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Coverage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from the second-best access point — what a client falls back to when the nearest one fails or is busy.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5852160" cy="3543300"/>
          </a:xfrm>
          <a:prstGeom prst="roundRect">
            <a:avLst>
              <a:gd name="adj" fmla="val 1290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143000"/>
            <a:ext cx="5760720" cy="34518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46520" y="114300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THIS MAP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6446520" y="1344168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secondary coverage means seamless roaming and no single point of failure.</a:t>
            </a:r>
            <a:endParaRPr lang="en-US" sz="8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areas depend entirely on one access point.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446520" y="258775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6446520" y="2834640"/>
            <a:ext cx="201168" cy="146304"/>
          </a:xfrm>
          <a:prstGeom prst="roundRect">
            <a:avLst>
              <a:gd name="adj" fmla="val 18750"/>
            </a:avLst>
          </a:prstGeom>
          <a:solidFill>
            <a:srgbClr val="00FF0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20840" y="280720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≥ -70 dBm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446520" y="3031236"/>
            <a:ext cx="201168" cy="146304"/>
          </a:xfrm>
          <a:prstGeom prst="roundRect">
            <a:avLst>
              <a:gd name="adj" fmla="val 18750"/>
            </a:avLst>
          </a:prstGeom>
          <a:solidFill>
            <a:srgbClr val="90EE9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20840" y="300380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-80 to -70 dBm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446520" y="3227832"/>
            <a:ext cx="201168" cy="146304"/>
          </a:xfrm>
          <a:prstGeom prst="roundRect">
            <a:avLst>
              <a:gd name="adj" fmla="val 18750"/>
            </a:avLst>
          </a:prstGeom>
          <a:solidFill>
            <a:srgbClr val="FFFF0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20840" y="320040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-85 to -80 dBm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446520" y="3424428"/>
            <a:ext cx="201168" cy="146304"/>
          </a:xfrm>
          <a:prstGeom prst="roundRect">
            <a:avLst>
              <a:gd name="adj" fmla="val 18750"/>
            </a:avLst>
          </a:prstGeom>
          <a:solidFill>
            <a:srgbClr val="FFA50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20840" y="339699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-90 to -85 dBm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446520" y="3621024"/>
            <a:ext cx="201168" cy="146304"/>
          </a:xfrm>
          <a:prstGeom prst="roundRect">
            <a:avLst>
              <a:gd name="adj" fmla="val 18750"/>
            </a:avLst>
          </a:prstGeom>
          <a:solidFill>
            <a:srgbClr val="FF000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20840" y="359359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&lt; -90 dBm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65760" y="4759452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760" y="47960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6  ·  Lantai4  ·  October 11, 2026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7680960" y="47960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 schedule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Model, band, channel and transmit power per access point — the installer's configuration sheet.</a:t>
            </a:r>
            <a:endParaRPr lang="en-US" sz="10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841248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822960"/>
                <a:gridCol w="2926080"/>
                <a:gridCol w="822960"/>
                <a:gridCol w="822960"/>
                <a:gridCol w="914400"/>
                <a:gridCol w="173736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Tx power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 (x, 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Ruckus R650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5GHz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dBm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5m, 10m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 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Ruckus R750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5GHz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dBm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21m, 10m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 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Ruckus R650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5GHz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dBm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6m, 24m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 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Ruckus R650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5GHz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dBm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21m, 24m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 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Ruckus R650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5GHz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dBm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40m, 12m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 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Ruckus R650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5GHz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dBm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36m, 25m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 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Ruckus R650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5GHz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dBm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45m, 10m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 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Ruckus R650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5GHz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dBm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42m, 25m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 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Ruckus R650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5GHz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dBm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36m, 10m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 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Ruckus R650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5GHz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dBm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45m, 21m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4759452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47960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6  ·  Lantai4  ·  October 11,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680960" y="47960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before and after installation.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8412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coverage is 87.7% — review the orange/red areas on the Signal Strength page and move or add one access point.</a:t>
            </a:r>
            <a:endParaRPr lang="en-US" sz="1150" dirty="0"/>
          </a:p>
          <a:p>
            <a:pPr marL="228600" indent="-2286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design with a post-installation survey and adjust channels and power from measured data.</a:t>
            </a:r>
            <a:endParaRPr lang="en-US" sz="1150" dirty="0"/>
          </a:p>
          <a:p>
            <a:pPr marL="228600" indent="-2286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AP schedule with the installation package: positions, models, channels and transmit power are the configuration sheet.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4759452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7960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6  ·  Lantai4  ·  October 11,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680960" y="47960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5544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22402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6  ·  Lantai4  ·  October 11,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1376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C7D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are model-based. Validate with a site survey after installation; channels and transmit power are starting values for the controller.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Kelompok 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Lantai4</dc:title>
  <dc:subject>Wireless design report</dc:subject>
  <dc:creator>Kelompok 6</dc:creator>
  <cp:lastModifiedBy>Kelompok 6</cp:lastModifiedBy>
  <cp:revision>1</cp:revision>
  <dcterms:created xsi:type="dcterms:W3CDTF">2026-10-11T15:35:08Z</dcterms:created>
  <dcterms:modified xsi:type="dcterms:W3CDTF">2026-10-11T15:35:08Z</dcterms:modified>
</cp:coreProperties>
</file>